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75" r:id="rId14"/>
    <p:sldId id="276" r:id="rId15"/>
    <p:sldId id="266" r:id="rId16"/>
    <p:sldId id="267" r:id="rId17"/>
    <p:sldId id="268" r:id="rId18"/>
    <p:sldId id="277" r:id="rId19"/>
    <p:sldId id="269" r:id="rId20"/>
    <p:sldId id="270" r:id="rId21"/>
    <p:sldId id="271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0430" y="2266950"/>
            <a:ext cx="9111138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Urbanist"/>
              </a:rPr>
              <a:t>Solar Performance </a:t>
            </a:r>
            <a:r>
              <a:rPr sz="5400" b="1" i="0" u="none" dirty="0">
                <a:solidFill>
                  <a:srgbClr val="11CAA0"/>
                </a:solidFill>
                <a:latin typeface="Urbanist"/>
              </a:rPr>
              <a:t>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0142" y="3893389"/>
            <a:ext cx="5871713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IN" sz="2000" dirty="0" err="1">
                <a:solidFill>
                  <a:schemeClr val="bg1"/>
                </a:solidFill>
                <a:latin typeface="Urbanist"/>
              </a:rPr>
              <a:t>Himshikhar</a:t>
            </a:r>
            <a:r>
              <a:rPr lang="en-IN" sz="2000" dirty="0">
                <a:solidFill>
                  <a:schemeClr val="bg1"/>
                </a:solidFill>
                <a:latin typeface="Urbanist"/>
              </a:rPr>
              <a:t> </a:t>
            </a:r>
            <a:r>
              <a:rPr sz="2000" b="0" i="0" u="none" dirty="0">
                <a:solidFill>
                  <a:schemeClr val="bg1"/>
                </a:solidFill>
                <a:latin typeface="Urbanist"/>
              </a:rPr>
              <a:t>Data Science T</a:t>
            </a:r>
            <a:r>
              <a:rPr lang="en-IN" sz="2000" b="0" i="0" u="none" dirty="0">
                <a:solidFill>
                  <a:schemeClr val="bg1"/>
                </a:solidFill>
                <a:latin typeface="Urbanist"/>
              </a:rPr>
              <a:t>rack</a:t>
            </a:r>
          </a:p>
          <a:p>
            <a:pPr algn="ctr">
              <a:lnSpc>
                <a:spcPts val="2250"/>
              </a:lnSpc>
            </a:pPr>
            <a:r>
              <a:rPr lang="en-IN" sz="2000" b="0" i="0" u="none" dirty="0">
                <a:solidFill>
                  <a:schemeClr val="bg1"/>
                </a:solidFill>
                <a:latin typeface="Urbanist"/>
              </a:rPr>
              <a:t>By-</a:t>
            </a:r>
            <a:r>
              <a:rPr lang="en-IN" sz="2000" dirty="0">
                <a:solidFill>
                  <a:schemeClr val="bg1"/>
                </a:solidFill>
                <a:latin typeface="Urbanist"/>
              </a:rPr>
              <a:t>Khushboo </a:t>
            </a:r>
            <a:r>
              <a:rPr lang="en-IN" sz="2000" dirty="0" err="1">
                <a:solidFill>
                  <a:schemeClr val="bg1"/>
                </a:solidFill>
                <a:latin typeface="Urbanist"/>
              </a:rPr>
              <a:t>Khilnaney</a:t>
            </a:r>
            <a:r>
              <a:rPr lang="en-IN" sz="2000" dirty="0">
                <a:solidFill>
                  <a:schemeClr val="bg1"/>
                </a:solidFill>
                <a:latin typeface="Urbanist"/>
              </a:rPr>
              <a:t> (742)</a:t>
            </a:r>
          </a:p>
          <a:p>
            <a:pPr algn="ctr">
              <a:lnSpc>
                <a:spcPts val="2250"/>
              </a:lnSpc>
            </a:pPr>
            <a:r>
              <a:rPr lang="en-IN" sz="2000" dirty="0">
                <a:solidFill>
                  <a:schemeClr val="bg1"/>
                </a:solidFill>
                <a:latin typeface="Urbanist"/>
              </a:rPr>
              <a:t>Satwik Srijan (722)</a:t>
            </a:r>
          </a:p>
          <a:p>
            <a:pPr algn="ctr">
              <a:lnSpc>
                <a:spcPts val="2250"/>
              </a:lnSpc>
            </a:pPr>
            <a:r>
              <a:rPr lang="en-IN" sz="2000" b="0" i="0" u="none" dirty="0">
                <a:solidFill>
                  <a:schemeClr val="bg1"/>
                </a:solidFill>
                <a:latin typeface="Urbanist"/>
              </a:rPr>
              <a:t>Ujjawal  Verma (723)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Problem &amp;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Real-World Impact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28875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Invisible Output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86075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Solar plants suffer from silent underperformance due to fouling, thermal derating, and localized inverter faults that go entirely unnoticed in aggregate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95725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Undetected faults lead to compounding energy losses, severely reducing asset ROI and grid reliability.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19625"/>
            <a:ext cx="5334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Our solution is an automated, machine-learning-driven analyzer that translates raw weather and generation data into actionable alerts and highly accurate expected generation curves.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62150"/>
            <a:ext cx="3492549" cy="3867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62150"/>
            <a:ext cx="3492549" cy="3867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62150"/>
            <a:ext cx="3492549" cy="3867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257425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37602" y="3209925"/>
            <a:ext cx="156019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FFFFF"/>
                </a:solidFill>
                <a:latin typeface="Urbanist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67125"/>
            <a:ext cx="29019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Telemetry data heavily integrating AC power output alongside strictly monitored weather inputs: solar irradiation, module temperature, and ambient temperature.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257425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15915" y="3209925"/>
            <a:ext cx="13601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FFFFF"/>
                </a:solidFill>
                <a:latin typeface="Urbanist"/>
              </a:rPr>
              <a:t>Granularity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667125"/>
            <a:ext cx="29019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Time-series data is continuously captured and streamed at strict 15-minute intervals, providing high-resolution visibility into transient anomalies.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257425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19192" y="3209925"/>
            <a:ext cx="171021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FFFFF"/>
                </a:solidFill>
                <a:latin typeface="Urbanist"/>
              </a:rPr>
              <a:t>Data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667125"/>
            <a:ext cx="2901999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Strategic removal of nighttime noise (irradiation &lt; 0.02) and advanced imputation for missing values to ensure the model focuses purely on daylight generation constraints.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7200" y="2447925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9312" y="2447925"/>
            <a:ext cx="333375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3799" y="2447925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Dataset &amp;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47775"/>
            <a:ext cx="5334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247775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1. Ingestion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04975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Real-time data pipeline streaming from plant sensors directly into the localized data warehouse.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28875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2. Data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86075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Applying automated capacity normalization and feature engineering (including rolling averages and time-of-day offsets).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95725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3. ML Inference &amp;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52925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Models predict expected output while the diagnostic engine performs gap analysis, peer benchmarking, and persistence filtering.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62575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4. Actionable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819775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Business-friendly dashboard detailing exact energy loss and direct financial impact.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257300"/>
            <a:ext cx="5314950" cy="3790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31432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Workflow &amp;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0250"/>
            <a:ext cx="5334000" cy="3790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0250"/>
            <a:ext cx="5334000" cy="3790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333750"/>
            <a:ext cx="4743450" cy="566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624387"/>
            <a:ext cx="4743450" cy="6602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295525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Standardizing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752725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To evaluate large and small inverters on identical scales, we utilize the industry-standard "Performance Ratio."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76625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This transforms an absolute kW prediction into a dimensionless efficiency problem (ranging from 0 to ~1), neutralizing scale biases.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486275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Capacity is estimated aggressively as the 95th percentile of AC power during optimal high-irradiance readings.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295525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Mathematical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752725"/>
            <a:ext cx="4743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Inverter Capacity Estimation: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043362"/>
            <a:ext cx="4743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Performance Ratio Transformation: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674" y="3486150"/>
            <a:ext cx="3587650" cy="26193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180" y="4776787"/>
            <a:ext cx="1112490" cy="3554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Target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Normalization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7375"/>
            <a:ext cx="4791670" cy="407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170" y="1857375"/>
            <a:ext cx="5876329" cy="407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445" y="3190875"/>
            <a:ext cx="5285779" cy="8131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9445" y="4727971"/>
            <a:ext cx="5285779" cy="625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152650"/>
            <a:ext cx="441117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The Ensemble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609850"/>
            <a:ext cx="420112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The core predictor is a Random Forest Regressor—an ensemble of decision trees used to minimize variance and aggressively prevent overfitting.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619500"/>
            <a:ext cx="420112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By using bootstrap-resampled data and random feature subsets at every node split, the forest maintains robustness against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629150"/>
            <a:ext cx="420112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Each individual tree recursively splits the feature space to minimize the Mean Squared Error (MSE) within resulting leaves.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445" y="2152650"/>
            <a:ext cx="55500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Variance Minimization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9445" y="2609850"/>
            <a:ext cx="528577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Ensemble Average: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9445" y="4146946"/>
            <a:ext cx="528577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Split Gain Strategy: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892" y="3343275"/>
            <a:ext cx="2122735" cy="50839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9470" y="4880371"/>
            <a:ext cx="4885729" cy="3205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Random Forest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Regression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7375"/>
            <a:ext cx="5334000" cy="407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57375"/>
            <a:ext cx="5334000" cy="407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190875"/>
            <a:ext cx="4743450" cy="9155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830365"/>
            <a:ext cx="4743450" cy="509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152650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Contamination Bias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609850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Standard regression minimizes errors over all data. Including faulty periods pulls the fitted curve downward, causing leverage bias.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619500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We deploy a two-pass "healthy data" trim—a crude but highly effective robust regression technique similar to RANSAC.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629150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Refitting solely on this subset forces the model to estimate what *should* happen during healthy states, rather than average operation including breakdowns.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152650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Trimming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609850"/>
            <a:ext cx="4743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Residual Calculation (Pass 1):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249340"/>
            <a:ext cx="4743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Healthy Set Refit: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8044" y="3343275"/>
            <a:ext cx="1090761" cy="61079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0978" y="4982765"/>
            <a:ext cx="2725042" cy="2047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Robust Regression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Trim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4043"/>
            <a:ext cx="5334000" cy="4043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74043"/>
            <a:ext cx="5334000" cy="40433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207543"/>
            <a:ext cx="4743450" cy="642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574381"/>
            <a:ext cx="4743450" cy="904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169318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Hard-Threshold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626518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We apply deliberate, non-learned threshold logic to evaluate deviations from expected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350418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This design decision ensures the diagnostic engine remains highly auditable and deterministic, generating statuses operations teams can blindly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360068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By classifying percentage gaps into actionable buckets (Critical vs. Warning), operators instantly triage severity.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169318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Deterministic Status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626518"/>
            <a:ext cx="4743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Percentage Deviation: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993356"/>
            <a:ext cx="4743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Threshold Triage: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123" y="3359943"/>
            <a:ext cx="1834753" cy="33813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9655" y="4726781"/>
            <a:ext cx="3887539" cy="600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Underperformance: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Gap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0250"/>
            <a:ext cx="5334000" cy="3790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0250"/>
            <a:ext cx="5334000" cy="3790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333750"/>
            <a:ext cx="4743450" cy="698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295525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Nonparametric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752725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At any given timestamp, all inverters within a specific solar plant theoretically share identical localized weather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62375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We benchmark using the median rather than the mean. This is crucial because if 2 out of 22 inverters are offline, a simple mean would drastically lower expected levels.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772025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This robust central tendency prevents failing hardware from masking adjacent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295525"/>
            <a:ext cx="49806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Deviation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752725"/>
            <a:ext cx="4743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Peer performance comparison: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365426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If the deviation metric breaches a 20% limit against healthy peers, it reinforces individual inverter fault alarms.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256" y="3486150"/>
            <a:ext cx="2376487" cy="3935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Peer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Benchmarking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19625"/>
            <a:ext cx="5334000" cy="557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90725"/>
            <a:ext cx="53340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90725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Run-Length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47925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This is discrete-time signal processing, functioning as a debouncing filter to suppress transient noise like isolated passing clouds.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57575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Alerts physically trigger only when the negative run length extends to 4+ consecutive intervals (1 full hour).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81475"/>
            <a:ext cx="5334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State changes are tracked cleanly: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916" y="4772025"/>
            <a:ext cx="2379017" cy="2524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2000250"/>
            <a:ext cx="5314950" cy="3790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FFFFF"/>
                </a:solidFill>
                <a:latin typeface="Urbanist"/>
              </a:rPr>
              <a:t>Persistence </a:t>
            </a:r>
            <a:r>
              <a:rPr sz="3600" b="1" i="0" u="none" dirty="0">
                <a:solidFill>
                  <a:srgbClr val="11CAA0"/>
                </a:solidFill>
                <a:latin typeface="Urbanist"/>
              </a:rPr>
              <a:t>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D8753-144B-683A-76E4-794F34B5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907DF32-DC57-5D9D-193B-20501561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C1B28C1D-CBBE-5DCE-92A5-235E48C82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34000" cy="381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648C7A-3BD3-B686-4E2E-2E9A10FC8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709" y="1199330"/>
            <a:ext cx="9046234" cy="53485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C44150-9B08-65B0-84F4-3917390829E7}"/>
              </a:ext>
            </a:extLst>
          </p:cNvPr>
          <p:cNvSpPr txBox="1"/>
          <p:nvPr/>
        </p:nvSpPr>
        <p:spPr>
          <a:xfrm>
            <a:off x="457920" y="276500"/>
            <a:ext cx="382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Urbanist"/>
              </a:rPr>
              <a:t>Demonstration</a:t>
            </a:r>
            <a:endParaRPr lang="en-IN" sz="3600" b="1" dirty="0">
              <a:solidFill>
                <a:schemeClr val="bg1"/>
              </a:solidFill>
              <a:latin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76780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65F70-0BDB-C901-B1F8-D0FA2BDC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9A4AEB9-EB0E-0DBA-CE01-08A5CDC9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B8F1403-DDB0-5F45-0C8E-FA3C6F944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34000" cy="381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0AB5C8-64A4-4A23-0EB2-679FB404FAB0}"/>
              </a:ext>
            </a:extLst>
          </p:cNvPr>
          <p:cNvSpPr txBox="1"/>
          <p:nvPr/>
        </p:nvSpPr>
        <p:spPr>
          <a:xfrm>
            <a:off x="538433" y="240427"/>
            <a:ext cx="382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Urbanist"/>
              </a:rPr>
              <a:t>Demonstration</a:t>
            </a:r>
            <a:endParaRPr lang="en-IN" sz="3600" b="1" dirty="0">
              <a:solidFill>
                <a:schemeClr val="bg1"/>
              </a:solidFill>
              <a:latin typeface="Urbanis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14214-0AAC-B0B9-2DB1-8834FDF36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524" y="1127185"/>
            <a:ext cx="9050743" cy="535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37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CFA08-1670-9FED-C67A-D4296E26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48024EF-B7EE-FE22-7656-DA03A82A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90575DC-CAAE-1872-63E0-1909DBDC2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34000" cy="381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08B151-9394-3D46-EA86-9F80BA9A526B}"/>
              </a:ext>
            </a:extLst>
          </p:cNvPr>
          <p:cNvSpPr txBox="1"/>
          <p:nvPr/>
        </p:nvSpPr>
        <p:spPr>
          <a:xfrm>
            <a:off x="705211" y="239629"/>
            <a:ext cx="382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Urbanist"/>
              </a:rPr>
              <a:t>Demonstration</a:t>
            </a:r>
            <a:endParaRPr lang="en-IN" sz="3600" b="1" dirty="0">
              <a:solidFill>
                <a:schemeClr val="bg1"/>
              </a:solidFill>
              <a:latin typeface="Urbanis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E0323-212A-A2D0-A772-CEE09B7EC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704" y="1125588"/>
            <a:ext cx="8956759" cy="52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6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D5E63-2E13-142C-46AA-57B6DE4A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26D5A79-2DFE-A166-34F1-8A3B53CED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69B5C47-1B98-CA7E-208B-E15D95F72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34000" cy="381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5E71BE-C479-3396-3CB8-86EFC325722A}"/>
              </a:ext>
            </a:extLst>
          </p:cNvPr>
          <p:cNvSpPr txBox="1"/>
          <p:nvPr/>
        </p:nvSpPr>
        <p:spPr>
          <a:xfrm>
            <a:off x="314147" y="68544"/>
            <a:ext cx="382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Urbanist"/>
                <a:cs typeface="Times New Roman" panose="02020603050405020304" pitchFamily="18" charset="0"/>
              </a:rPr>
              <a:t>Demonstration</a:t>
            </a:r>
            <a:endParaRPr lang="en-IN" sz="3600" b="1" dirty="0">
              <a:solidFill>
                <a:schemeClr val="bg1"/>
              </a:solidFill>
              <a:latin typeface="Urbanist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1731E-55EC-770C-703A-E46534449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338" y="1055021"/>
            <a:ext cx="8939590" cy="52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80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028950"/>
            <a:ext cx="53340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sz="10500" b="1" i="0" u="none">
                <a:solidFill>
                  <a:srgbClr val="11CAA0"/>
                </a:solidFill>
                <a:latin typeface="Urbanist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4577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FFFFF"/>
                </a:solidFill>
                <a:latin typeface="Urbanist"/>
              </a:rPr>
              <a:t>Min Integration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481262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Translating Ratios to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938462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We transform abstract performance ratios directly into actionable financial metrics using a discretized left-Riemann-sum over 15-minute intervals.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300537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By linearly scaling this lost kW volume against user-defined energy tariffs, asset managers can instantly prioritize maintenance by true monetary value.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948112"/>
            <a:ext cx="2632918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5750" y="290512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FFFFF"/>
                </a:solidFill>
                <a:latin typeface="Urbanist"/>
                <a:cs typeface="Times New Roman" panose="02020603050405020304" pitchFamily="18" charset="0"/>
              </a:rPr>
              <a:t>Business &amp; </a:t>
            </a:r>
            <a:r>
              <a:rPr sz="3600" b="1" i="0" u="none" dirty="0">
                <a:solidFill>
                  <a:srgbClr val="11CAA0"/>
                </a:solidFill>
                <a:latin typeface="Urbanist"/>
                <a:cs typeface="Times New Roman" panose="02020603050405020304" pitchFamily="18" charset="0"/>
              </a:rPr>
              <a:t>Financial Impact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1985"/>
            <a:ext cx="3894087" cy="36474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587" y="2071985"/>
            <a:ext cx="6911280" cy="36474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548485"/>
            <a:ext cx="3303537" cy="7328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1862" y="3691235"/>
            <a:ext cx="6320730" cy="7328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367260"/>
            <a:ext cx="346871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Global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824460"/>
            <a:ext cx="33035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Random Forest variance reduction reliably identifies irradiation as the ~99% dominant predictive feature—providing a critical physics-based sanity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1862" y="2367260"/>
            <a:ext cx="663676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Urbanist"/>
              </a:rPr>
              <a:t>Local Explainability (TreeSHAP)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1862" y="2824460"/>
            <a:ext cx="632073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Shapley values decompose individual predictions into exact per-feature contributions, enabling precise root-cause diagnostics per alert.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4700885"/>
            <a:ext cx="2903487" cy="42802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887" y="3843635"/>
            <a:ext cx="5920680" cy="4280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FFFFF"/>
                </a:solidFill>
                <a:latin typeface="Urbanist"/>
                <a:cs typeface="Times New Roman" panose="02020603050405020304" pitchFamily="18" charset="0"/>
              </a:rPr>
              <a:t>Explainable AI </a:t>
            </a:r>
            <a:r>
              <a:rPr sz="3600" b="1" i="0" u="none" dirty="0">
                <a:solidFill>
                  <a:srgbClr val="11CAA0"/>
                </a:solidFill>
                <a:latin typeface="Urbanist"/>
                <a:cs typeface="Times New Roman" panose="02020603050405020304" pitchFamily="18" charset="0"/>
              </a:rPr>
              <a:t>(XAI)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2628900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62125" y="2628900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96805" y="2628900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476625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62125" y="3476625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96805" y="3476625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324350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62125" y="4324350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96805" y="4324350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943475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62125" y="4943475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96805" y="4943475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Model Performance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Metrics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89FD1E4-E472-35DA-20B5-66D626C8D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454636"/>
              </p:ext>
            </p:extLst>
          </p:nvPr>
        </p:nvGraphicFramePr>
        <p:xfrm>
          <a:off x="613554" y="1607073"/>
          <a:ext cx="10964892" cy="4530015"/>
        </p:xfrm>
        <a:graphic>
          <a:graphicData uri="http://schemas.openxmlformats.org/drawingml/2006/table">
            <a:tbl>
              <a:tblPr/>
              <a:tblGrid>
                <a:gridCol w="3614620">
                  <a:extLst>
                    <a:ext uri="{9D8B030D-6E8A-4147-A177-3AD203B41FA5}">
                      <a16:colId xmlns:a16="http://schemas.microsoft.com/office/drawing/2014/main" val="773621042"/>
                    </a:ext>
                  </a:extLst>
                </a:gridCol>
                <a:gridCol w="3675136">
                  <a:extLst>
                    <a:ext uri="{9D8B030D-6E8A-4147-A177-3AD203B41FA5}">
                      <a16:colId xmlns:a16="http://schemas.microsoft.com/office/drawing/2014/main" val="2974931071"/>
                    </a:ext>
                  </a:extLst>
                </a:gridCol>
                <a:gridCol w="3675136">
                  <a:extLst>
                    <a:ext uri="{9D8B030D-6E8A-4147-A177-3AD203B41FA5}">
                      <a16:colId xmlns:a16="http://schemas.microsoft.com/office/drawing/2014/main" val="4016776378"/>
                    </a:ext>
                  </a:extLst>
                </a:gridCol>
              </a:tblGrid>
              <a:tr h="218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IN" sz="1100" dirty="0">
                        <a:solidFill>
                          <a:schemeClr val="bg1"/>
                        </a:solidFill>
                      </a:endParaRP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IN" sz="1100">
                        <a:solidFill>
                          <a:schemeClr val="bg1"/>
                        </a:solidFill>
                      </a:endParaRP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Importance for Operations</a:t>
                      </a:r>
                      <a:endParaRPr lang="en-IN" sz="1100">
                        <a:solidFill>
                          <a:schemeClr val="bg1"/>
                        </a:solidFill>
                      </a:endParaRP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576208"/>
                  </a:ext>
                </a:extLst>
              </a:tr>
              <a:tr h="1036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en-IN" sz="1100" dirty="0">
                        <a:solidFill>
                          <a:schemeClr val="bg1"/>
                        </a:solidFill>
                      </a:endParaRP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Mean Absolute Error – average absolute difference between predicted and actual values.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Provides an easily interpretable measure of average prediction error in kW, helping operators understand typical forecasting deviation.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48218"/>
                  </a:ext>
                </a:extLst>
              </a:tr>
              <a:tr h="1036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en-IN" sz="1100">
                        <a:solidFill>
                          <a:schemeClr val="bg1"/>
                        </a:solidFill>
                      </a:endParaRP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Mean Squared Error – average of the squared differences between predicted and actual values.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Penalizes larger prediction errors more heavily, making it useful for identifying models that occasionally produce significant deviations.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06723"/>
                  </a:ext>
                </a:extLst>
              </a:tr>
              <a:tr h="1036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IN" sz="1100">
                        <a:solidFill>
                          <a:schemeClr val="bg1"/>
                        </a:solidFill>
                      </a:endParaRP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Root Mean Square Error – square root of the Mean Squared Error.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Measures the typical prediction error in the original unit (kW), making it practical for evaluating real-world model accuracy and operational reliability.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775730"/>
                  </a:ext>
                </a:extLst>
              </a:tr>
              <a:tr h="119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IN" sz="1100">
                        <a:solidFill>
                          <a:schemeClr val="bg1"/>
                        </a:solidFill>
                      </a:endParaRP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Coefficient of Determination – proportion of variance in the target explained by the model.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Indicates how well the model captures changes in solar power output. Higher R² values reflect stronger predictive performance and greater confidence in operational decisions.</a:t>
                      </a:r>
                    </a:p>
                  </a:txBody>
                  <a:tcPr marL="54530" marR="54530" marT="27265" marB="27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768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2595E-5C0E-B1A0-6760-E08907B4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2710EBD-3E4D-2776-853D-230D80885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85962"/>
            <a:ext cx="11049000" cy="381952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1D781D-1899-09A4-25A0-374915363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65304"/>
              </p:ext>
            </p:extLst>
          </p:nvPr>
        </p:nvGraphicFramePr>
        <p:xfrm>
          <a:off x="649857" y="1914525"/>
          <a:ext cx="10886535" cy="3966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2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26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1CAA0"/>
                          </a:solidFill>
                          <a:latin typeface="Urbanist"/>
                        </a:rPr>
                        <a:t>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50" b="1" i="0" u="none" dirty="0">
                          <a:solidFill>
                            <a:srgbClr val="11CAA0"/>
                          </a:solidFill>
                          <a:latin typeface="Urbanist"/>
                        </a:rPr>
                        <a:t>Value</a:t>
                      </a:r>
                      <a:endParaRPr sz="1650" b="1" i="0" u="none" dirty="0">
                        <a:solidFill>
                          <a:srgbClr val="11CAA0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/>
                      <a:endParaRPr sz="1650" b="1" i="0" u="none" dirty="0">
                        <a:solidFill>
                          <a:srgbClr val="11CAA0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262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MAE</a:t>
                      </a:r>
                      <a:endParaRPr sz="1500" b="1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  27.6</a:t>
                      </a:r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262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MSE</a:t>
                      </a:r>
                      <a:endParaRPr sz="1500" b="1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  9010.89</a:t>
                      </a:r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262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RMSE</a:t>
                      </a:r>
                      <a:endParaRPr sz="1500" b="1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 0.9143</a:t>
                      </a:r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262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R^2</a:t>
                      </a:r>
                      <a:endParaRPr sz="1500" b="1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u="none" dirty="0">
                          <a:solidFill>
                            <a:srgbClr val="CCCCCC"/>
                          </a:solidFill>
                          <a:latin typeface="Urbanist"/>
                        </a:rPr>
                        <a:t>  0.9143</a:t>
                      </a:r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sz="1500" b="0" i="0" u="none" dirty="0">
                        <a:solidFill>
                          <a:srgbClr val="CCCCCC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9962C6D-527C-DAC1-E509-D199487BEBC5}"/>
              </a:ext>
            </a:extLst>
          </p:cNvPr>
          <p:cNvSpPr/>
          <p:nvPr/>
        </p:nvSpPr>
        <p:spPr>
          <a:xfrm>
            <a:off x="581025" y="2628900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F5036E-BE05-D03D-A169-158AF75842B8}"/>
              </a:ext>
            </a:extLst>
          </p:cNvPr>
          <p:cNvSpPr/>
          <p:nvPr/>
        </p:nvSpPr>
        <p:spPr>
          <a:xfrm>
            <a:off x="1762125" y="2628900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75B7EE-0028-01C4-03F2-A9A50B01FD17}"/>
              </a:ext>
            </a:extLst>
          </p:cNvPr>
          <p:cNvSpPr/>
          <p:nvPr/>
        </p:nvSpPr>
        <p:spPr>
          <a:xfrm>
            <a:off x="5396805" y="2628900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96E09D-0C4C-670A-1E56-30935AB1640B}"/>
              </a:ext>
            </a:extLst>
          </p:cNvPr>
          <p:cNvSpPr/>
          <p:nvPr/>
        </p:nvSpPr>
        <p:spPr>
          <a:xfrm>
            <a:off x="581025" y="3476625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3746D-CFDC-FB1F-128A-36310E25B506}"/>
              </a:ext>
            </a:extLst>
          </p:cNvPr>
          <p:cNvSpPr/>
          <p:nvPr/>
        </p:nvSpPr>
        <p:spPr>
          <a:xfrm>
            <a:off x="1762125" y="3476625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5344A-5197-F2ED-EF8B-906D81623B55}"/>
              </a:ext>
            </a:extLst>
          </p:cNvPr>
          <p:cNvSpPr/>
          <p:nvPr/>
        </p:nvSpPr>
        <p:spPr>
          <a:xfrm>
            <a:off x="5396805" y="3459642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F8023-9756-2D7D-A2F1-B08A8A8DFA92}"/>
              </a:ext>
            </a:extLst>
          </p:cNvPr>
          <p:cNvSpPr/>
          <p:nvPr/>
        </p:nvSpPr>
        <p:spPr>
          <a:xfrm>
            <a:off x="581025" y="4324350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AAE04D-7BA8-9850-86C5-FF186AB1E8AA}"/>
              </a:ext>
            </a:extLst>
          </p:cNvPr>
          <p:cNvSpPr/>
          <p:nvPr/>
        </p:nvSpPr>
        <p:spPr>
          <a:xfrm>
            <a:off x="1762125" y="4324350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8EF63-6ECC-A9B6-9986-63C925F808A5}"/>
              </a:ext>
            </a:extLst>
          </p:cNvPr>
          <p:cNvSpPr/>
          <p:nvPr/>
        </p:nvSpPr>
        <p:spPr>
          <a:xfrm>
            <a:off x="5396805" y="4324350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BE948-9460-7D08-0F5C-8710C99D4052}"/>
              </a:ext>
            </a:extLst>
          </p:cNvPr>
          <p:cNvSpPr/>
          <p:nvPr/>
        </p:nvSpPr>
        <p:spPr>
          <a:xfrm>
            <a:off x="581025" y="4943475"/>
            <a:ext cx="11811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22DA5-5BAA-861F-DAD7-D1C7351B21EB}"/>
              </a:ext>
            </a:extLst>
          </p:cNvPr>
          <p:cNvSpPr/>
          <p:nvPr/>
        </p:nvSpPr>
        <p:spPr>
          <a:xfrm>
            <a:off x="1762125" y="4943475"/>
            <a:ext cx="363468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AB1950-F5BF-867A-88B5-E43B6A7099B6}"/>
              </a:ext>
            </a:extLst>
          </p:cNvPr>
          <p:cNvSpPr/>
          <p:nvPr/>
        </p:nvSpPr>
        <p:spPr>
          <a:xfrm>
            <a:off x="5396805" y="4943475"/>
            <a:ext cx="62141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89DFBC-E98D-A72D-26AF-2091F0C99E7A}"/>
              </a:ext>
            </a:extLst>
          </p:cNvPr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Urbanist"/>
              </a:rPr>
              <a:t>Result</a:t>
            </a:r>
            <a:r>
              <a:rPr sz="3600" b="1" i="0" u="none" dirty="0">
                <a:solidFill>
                  <a:srgbClr val="FFFFFF"/>
                </a:solidFill>
                <a:latin typeface="Urbanist"/>
              </a:rPr>
              <a:t> </a:t>
            </a:r>
            <a:r>
              <a:rPr sz="3600" b="1" i="0" u="none" dirty="0">
                <a:solidFill>
                  <a:srgbClr val="11CAA0"/>
                </a:solidFill>
                <a:latin typeface="Urbanist"/>
              </a:rPr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3539571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600325"/>
            <a:ext cx="10620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Urbanist"/>
              </a:rPr>
              <a:t>Hardcoded Thresholds:</a:t>
            </a:r>
            <a:r>
              <a:rPr sz="1650" b="0" i="0" u="none">
                <a:solidFill>
                  <a:srgbClr val="A3A3A3"/>
                </a:solidFill>
                <a:latin typeface="Urbanist"/>
              </a:rPr>
              <a:t> The persistence interval, gap thresholds (15%/30%), peer deviation limit (20%), and overheat cutoffs (55°C) are intentional judgment calls prioritizing auditable business logic over complex statistical fits.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514725"/>
            <a:ext cx="10620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Urbanist"/>
              </a:rPr>
              <a:t>Data Dependency:</a:t>
            </a:r>
            <a:r>
              <a:rPr sz="1650" b="0" i="0" u="none">
                <a:solidFill>
                  <a:srgbClr val="A3A3A3"/>
                </a:solidFill>
                <a:latin typeface="Urbanist"/>
              </a:rPr>
              <a:t> Regression predictions rely entirely on localized telemetry. Pyranometer sensor drift or misalignment can artificially mimic widespread inverter hardware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429125"/>
            <a:ext cx="10620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FFFFF"/>
                </a:solidFill>
                <a:latin typeface="Urbanist"/>
              </a:rPr>
              <a:t>Responsible Use (Human-in-the-Loop):</a:t>
            </a:r>
            <a:r>
              <a:rPr sz="1650" b="0" i="0" u="none">
                <a:solidFill>
                  <a:srgbClr val="A3A3A3"/>
                </a:solidFill>
                <a:latin typeface="Urbanist"/>
              </a:rPr>
              <a:t> This diagnostic engine is a high-level decision-support system. It dictates financial prioritization but physical interventions still strictly require manual validation.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3662"/>
            <a:ext cx="314325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48062"/>
            <a:ext cx="2476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62462"/>
            <a:ext cx="314325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Limitations &amp; </a:t>
            </a:r>
            <a:r>
              <a:rPr sz="3600" b="1" i="0" u="none">
                <a:solidFill>
                  <a:srgbClr val="11CAA0"/>
                </a:solidFill>
                <a:latin typeface="Urbanist"/>
              </a:rPr>
              <a:t>Responsible 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0643" y="2024062"/>
            <a:ext cx="5710713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Urbanist"/>
              </a:rPr>
              <a:t>Powering the </a:t>
            </a:r>
            <a:r>
              <a:rPr sz="4800" b="1" i="0" u="none">
                <a:solidFill>
                  <a:srgbClr val="11CAA0"/>
                </a:solidFill>
                <a:latin typeface="Urbanist"/>
              </a:rP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47987"/>
            <a:ext cx="1104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Urbanist"/>
              </a:rPr>
              <a:t>By fusing robust machine learning regression, localized explainability, and deterministic signal processing, we successfully translate raw solar noise into actionable financial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957637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0787" y="4576762"/>
            <a:ext cx="7210425" cy="25717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11CAA0"/>
                </a:solidFill>
                <a:latin typeface="Urbanist"/>
              </a:rPr>
              <a:t>Future Goal: Dynamic 1-minute streaming telemetry &amp; live grid-pricing APIs.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4595812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57475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6004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590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590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362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4362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860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800350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A3A3"/>
                </a:solidFill>
                <a:latin typeface="Urbanist"/>
              </a:rPr>
              <a:t>https://assets.solarplaza.com/filer_public_thumbnails/filer_public/89/9a/899a6abc-dd7a-42af-a00d-f6c0525580fc/cms_page_media2016114dirty.jpg__800x223_q85_subsampling-2.jpg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219450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3A3A3"/>
                </a:solidFill>
                <a:latin typeface="Urbanis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Urbanist"/>
              </a:rPr>
              <a:t>www.solarplaza.com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4332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750468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A3A3"/>
                </a:solidFill>
                <a:latin typeface="Urbanist"/>
              </a:rPr>
              <a:t>https://cdn.dribbble.com/userupload/47366409/file/c8aa4cbe0605eee5edbf9d1880b06894.png?format=webp&amp;resize=400x300&amp;vertical=center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983831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3A3A3"/>
                </a:solidFill>
                <a:latin typeface="Urbanis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Urbanist"/>
              </a:rPr>
              <a:t>dribbble.com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1485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521993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A3A3"/>
                </a:solidFill>
                <a:latin typeface="Urbanist"/>
              </a:rPr>
              <a:t>https://static.vecteezy.com/system/resources/thumbnails/078/527/329/small/neon-sound-waves-and-glowing-audio-wave-graph-vector.jpg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755356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3A3A3"/>
                </a:solidFill>
                <a:latin typeface="Urbanist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Urbanist"/>
              </a:rPr>
              <a:t>www.vecteezy.com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Urbanist"/>
              </a:rPr>
              <a:t>Image Sources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BD67D-A232-7A34-BAEC-7A1B3344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8B2773-EDA0-655D-0D24-2E741971F64B}"/>
              </a:ext>
            </a:extLst>
          </p:cNvPr>
          <p:cNvSpPr/>
          <p:nvPr/>
        </p:nvSpPr>
        <p:spPr>
          <a:xfrm>
            <a:off x="571500" y="2657475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BA648A-B2FB-0F96-C7F2-5BF99E7E1764}"/>
              </a:ext>
            </a:extLst>
          </p:cNvPr>
          <p:cNvSpPr/>
          <p:nvPr/>
        </p:nvSpPr>
        <p:spPr>
          <a:xfrm>
            <a:off x="571500" y="36004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7DD284-8F2E-7D94-7B14-3E21A98B9BAB}"/>
              </a:ext>
            </a:extLst>
          </p:cNvPr>
          <p:cNvSpPr txBox="1"/>
          <p:nvPr/>
        </p:nvSpPr>
        <p:spPr>
          <a:xfrm>
            <a:off x="1179871" y="1923190"/>
            <a:ext cx="188221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/>
                </a:solidFill>
                <a:latin typeface="Urbanist"/>
              </a:rPr>
              <a:t>Contribution</a:t>
            </a:r>
          </a:p>
          <a:p>
            <a:endParaRPr lang="en-US" sz="3600" b="1" dirty="0">
              <a:solidFill>
                <a:schemeClr val="bg2"/>
              </a:solidFill>
              <a:latin typeface="Urbanist"/>
            </a:endParaRPr>
          </a:p>
          <a:p>
            <a:r>
              <a:rPr lang="en-IN" sz="2800" b="1" dirty="0">
                <a:solidFill>
                  <a:schemeClr val="bg2"/>
                </a:solidFill>
                <a:latin typeface="Urbanist"/>
              </a:rPr>
              <a:t>Ujjawal Verma - ML (55%)</a:t>
            </a:r>
          </a:p>
          <a:p>
            <a:r>
              <a:rPr lang="en-IN" sz="2800" b="1" dirty="0">
                <a:solidFill>
                  <a:schemeClr val="bg2"/>
                </a:solidFill>
                <a:latin typeface="Urbanist"/>
              </a:rPr>
              <a:t>Khushboo </a:t>
            </a:r>
            <a:r>
              <a:rPr lang="en-IN" sz="2800" b="1" dirty="0" err="1">
                <a:solidFill>
                  <a:schemeClr val="bg2"/>
                </a:solidFill>
                <a:latin typeface="Urbanist"/>
              </a:rPr>
              <a:t>Khilnaney</a:t>
            </a:r>
            <a:r>
              <a:rPr lang="en-IN" sz="2800" b="1" dirty="0">
                <a:solidFill>
                  <a:schemeClr val="bg2"/>
                </a:solidFill>
                <a:latin typeface="Urbanist"/>
              </a:rPr>
              <a:t>- Report, </a:t>
            </a:r>
            <a:r>
              <a:rPr lang="en-IN" sz="2800" b="1" dirty="0" err="1">
                <a:solidFill>
                  <a:schemeClr val="bg2"/>
                </a:solidFill>
                <a:latin typeface="Urbanist"/>
              </a:rPr>
              <a:t>PPT,Demo,ML</a:t>
            </a:r>
            <a:r>
              <a:rPr lang="en-IN" sz="2800" b="1" dirty="0">
                <a:solidFill>
                  <a:schemeClr val="bg2"/>
                </a:solidFill>
                <a:latin typeface="Urbanist"/>
              </a:rPr>
              <a:t>(20%)</a:t>
            </a:r>
          </a:p>
          <a:p>
            <a:r>
              <a:rPr lang="en-IN" sz="2800" b="1" dirty="0">
                <a:solidFill>
                  <a:schemeClr val="bg2"/>
                </a:solidFill>
                <a:latin typeface="Urbanist"/>
              </a:rPr>
              <a:t>Satvik Srijan – ML(25%)</a:t>
            </a:r>
            <a:endParaRPr lang="en-US" sz="2800" b="1" dirty="0">
              <a:solidFill>
                <a:schemeClr val="bg2"/>
              </a:solidFill>
              <a:latin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2408172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1149F-9D08-A98A-B0D7-383ABA0A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E944CC-1DA4-96BD-A1FA-51B5F703E2ED}"/>
              </a:ext>
            </a:extLst>
          </p:cNvPr>
          <p:cNvSpPr/>
          <p:nvPr/>
        </p:nvSpPr>
        <p:spPr>
          <a:xfrm>
            <a:off x="571500" y="2657475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BE0FB-FB7F-DA11-1947-C51833E4EF6A}"/>
              </a:ext>
            </a:extLst>
          </p:cNvPr>
          <p:cNvSpPr/>
          <p:nvPr/>
        </p:nvSpPr>
        <p:spPr>
          <a:xfrm>
            <a:off x="571500" y="36004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C5D747-A93F-9F76-1654-6000BC267558}"/>
              </a:ext>
            </a:extLst>
          </p:cNvPr>
          <p:cNvSpPr txBox="1"/>
          <p:nvPr/>
        </p:nvSpPr>
        <p:spPr>
          <a:xfrm>
            <a:off x="3479321" y="2528798"/>
            <a:ext cx="50296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Urbanist"/>
              </a:rPr>
              <a:t>THANK</a:t>
            </a:r>
            <a:r>
              <a:rPr lang="en-US" sz="7200" dirty="0">
                <a:solidFill>
                  <a:schemeClr val="bg2"/>
                </a:solidFill>
                <a:latin typeface="Urbanist"/>
              </a:rPr>
              <a:t> YOU!</a:t>
            </a:r>
            <a:endParaRPr lang="en-IN" sz="7200" dirty="0">
              <a:solidFill>
                <a:schemeClr val="bg2"/>
              </a:solidFill>
              <a:latin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3585443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1261</Words>
  <Application>Microsoft Office PowerPoint</Application>
  <PresentationFormat>Widescreen</PresentationFormat>
  <Paragraphs>133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Satvik</dc:creator>
  <cp:keywords/>
  <dc:description>generated using python-pptx</dc:description>
  <cp:lastModifiedBy>Satvik Srijan</cp:lastModifiedBy>
  <cp:revision>4</cp:revision>
  <dcterms:created xsi:type="dcterms:W3CDTF">2013-01-27T09:14:16Z</dcterms:created>
  <dcterms:modified xsi:type="dcterms:W3CDTF">2026-07-15T13:56:08Z</dcterms:modified>
  <cp:category/>
</cp:coreProperties>
</file>